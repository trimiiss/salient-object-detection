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E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Salient Object Detection (SOD)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End-to-end deep learning system using SODNet</a:t>
            </a:r>
          </a:p>
          <a:p>
            <a:pPr>
              <a:defRPr sz="1400">
                <a:solidFill>
                  <a:srgbClr val="C8DCF5"/>
                </a:solidFill>
              </a:defRPr>
            </a:pPr>
            <a:r>
              <a:t>Dataset: DUTS | Loss: BCE + IoU | Output: segmentation heatmaps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834640"/>
            <a:ext cx="2377440" cy="73152"/>
          </a:xfrm>
          <a:prstGeom prst="rect">
            <a:avLst/>
          </a:prstGeom>
          <a:solidFill>
            <a:srgbClr val="48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Project goal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Detect the most visually dominant object in an image and produce a clean pixel-level saliency mask.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657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What is included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Data merging, preprocessing, augmentation, training, evaluation, and visual inference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E51"/>
                </a:solidFill>
              </a:rPr>
              <a:t>Problem, Data, and Split Strategy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Why the dataset setup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Problem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Binary saliency segmentation: classify each pixel as salient object or background.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28016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Dataset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DUTS with 15,572 image-mask pairs from DUTS-TR and DUTS-TE.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Split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Merged into a super-set, then randomized into 70% train, 15% validation, 15%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698480" cy="2286000"/>
          </a:xfrm>
          <a:prstGeom prst="rect">
            <a:avLst/>
          </a:prstGeom>
          <a:noFill/>
        </p:spPr>
        <p:txBody>
          <a:bodyPr wrap="square" lIns="0" rIns="0" tIns="0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Super-set strategy increases diversity and reduces dependence on the original split.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Final unseen test set contains 2,336 samples for a reliable holdout evaluation.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Goal: preserve generalization while still learning fine object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E51"/>
                </a:solidFill>
              </a:rPr>
              <a:t>Method: Preprocessing, Augmentation, and SODNet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How the model was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Preprocessing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• Resize to 224 x 224</a:t>
            </a:r>
            <a:br/>
            <a:r>
              <a:t>• Normalize to [0, 1]</a:t>
            </a:r>
            <a:br/>
            <a:r>
              <a:t>• Keep image-mask alignment exact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2801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Augmentation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• Horizontal flip</a:t>
            </a:r>
            <a:br/>
            <a:r>
              <a:t>• Vertical flip</a:t>
            </a:r>
            <a:br/>
            <a:r>
              <a:t>• Color jitter</a:t>
            </a:r>
            <a:br/>
            <a:r>
              <a:t>• Rotation ±15°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8016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SODNet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• 5-block encoder</a:t>
            </a:r>
            <a:br/>
            <a:r>
              <a:t>• ConvTranspose2d decoder</a:t>
            </a:r>
            <a:br/>
            <a:r>
              <a:t>• Skip connections</a:t>
            </a:r>
            <a:br/>
            <a:r>
              <a:t>• Dropout 0.2 + BatchNorm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E51"/>
                </a:solidFill>
              </a:rPr>
              <a:t>Training and Results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What the model achieved on unseen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Training setup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Adam optimizer | Learning rate: 1e-3 | Epochs: 25 | Early stopping on validation 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06440" y="1280160"/>
            <a:ext cx="5806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Hybrid loss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L = BCE + 0.5(1 - IoU)</a:t>
            </a:r>
            <a:br/>
            <a:r>
              <a:t>Balances pixel accuracy with region overlap and shape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65760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9B56"/>
                </a:solidFill>
              </a:rPr>
              <a:t>IoU</a:t>
            </a:r>
          </a:p>
          <a:p>
            <a:pPr algn="ctr"/>
            <a:r>
              <a:rPr sz="2000" b="1">
                <a:solidFill>
                  <a:srgbClr val="222222"/>
                </a:solidFill>
              </a:rPr>
              <a:t>0.7079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365760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E70BF"/>
                </a:solidFill>
              </a:rPr>
              <a:t>Precision</a:t>
            </a:r>
          </a:p>
          <a:p>
            <a:pPr algn="ctr"/>
            <a:r>
              <a:rPr sz="2000" b="1">
                <a:solidFill>
                  <a:srgbClr val="222222"/>
                </a:solidFill>
              </a:rPr>
              <a:t>0.7853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365760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8A0FF"/>
                </a:solidFill>
              </a:rPr>
              <a:t>Recall</a:t>
            </a:r>
          </a:p>
          <a:p>
            <a:pPr algn="ctr"/>
            <a:r>
              <a:rPr sz="2000" b="1">
                <a:solidFill>
                  <a:srgbClr val="222222"/>
                </a:solidFill>
              </a:rPr>
              <a:t>0.8699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365760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12E51"/>
                </a:solidFill>
              </a:rPr>
              <a:t>F1-Score</a:t>
            </a:r>
          </a:p>
          <a:p>
            <a:pPr algn="ctr"/>
            <a:r>
              <a:rPr sz="2000" b="1">
                <a:solidFill>
                  <a:srgbClr val="222222"/>
                </a:solidFill>
              </a:rPr>
              <a:t>0.8044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365760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A5A5A"/>
                </a:solidFill>
              </a:rPr>
              <a:t>MAE</a:t>
            </a:r>
          </a:p>
          <a:p>
            <a:pPr algn="ctr"/>
            <a:r>
              <a:rPr sz="2000" b="1">
                <a:solidFill>
                  <a:srgbClr val="222222"/>
                </a:solidFill>
              </a:rPr>
              <a:t>0.0958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E51"/>
                </a:solidFill>
              </a:rPr>
              <a:t>Key Takeaways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Final review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Strong coverage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High recall shows the model captures most salient regions in each image.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7160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Balanced quality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Precision, F1-score, and IoU indicate solid segmentation quality overall.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/>
          <a:lstStyle/>
          <a:p>
            <a:pPr algn="ctr"/>
            <a:r>
              <a:rPr sz="1700" b="1">
                <a:solidFill>
                  <a:srgbClr val="112E51"/>
                </a:solidFill>
              </a:rPr>
              <a:t>Low error</a:t>
            </a:r>
          </a:p>
          <a:p>
            <a:pPr>
              <a:spcBef>
                <a:spcPts val="600"/>
              </a:spcBef>
              <a:defRPr sz="1200">
                <a:solidFill>
                  <a:srgbClr val="222222"/>
                </a:solidFill>
              </a:defRPr>
            </a:pPr>
            <a:r>
              <a:t>MAE is low, showing stable pixel-level predictions.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789920" cy="2194560"/>
          </a:xfrm>
          <a:prstGeom prst="rect">
            <a:avLst/>
          </a:prstGeom>
          <a:noFill/>
        </p:spPr>
        <p:txBody>
          <a:bodyPr wrap="square" lIns="0" rIns="0" tIns="0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What worked best: merged dataset, augmentation, skip connections, and hybrid loss.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Main limitation: fixed 224 x 224 input size can reduce detail for very small objects.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Future improvement: stronger backbone, attention modules, and boundary refinement.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